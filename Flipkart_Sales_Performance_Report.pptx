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Millions)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Jan-23</c:v>
                  </c:pt>
                  <c:pt idx="1">
                    <c:v>Feb-23</c:v>
                  </c:pt>
                  <c:pt idx="2">
                    <c:v>Mar-23</c:v>
                  </c:pt>
                  <c:pt idx="3">
                    <c:v>Apr-23</c:v>
                  </c:pt>
                  <c:pt idx="4">
                    <c:v>May-23</c:v>
                  </c:pt>
                  <c:pt idx="5">
                    <c:v>Jun-23</c:v>
                  </c:pt>
                  <c:pt idx="6">
                    <c:v>Jul-23</c:v>
                  </c:pt>
                  <c:pt idx="7">
                    <c:v>Aug-23</c:v>
                  </c:pt>
                  <c:pt idx="8">
                    <c:v>Sep-23</c:v>
                  </c:pt>
                  <c:pt idx="9">
                    <c:v>Oct-23</c:v>
                  </c:pt>
                  <c:pt idx="10">
                    <c:v>Nov-23</c:v>
                  </c:pt>
                  <c:pt idx="11">
                    <c:v>Dec-23</c:v>
                  </c:pt>
                  <c:pt idx="12">
                    <c:v>Jan-24</c:v>
                  </c:pt>
                  <c:pt idx="13">
                    <c:v>Feb-24</c:v>
                  </c:pt>
                  <c:pt idx="14">
                    <c:v>Mar-24</c:v>
                  </c:pt>
                  <c:pt idx="15">
                    <c:v>Apr-24</c:v>
                  </c:pt>
                  <c:pt idx="16">
                    <c:v>May-24</c:v>
                  </c:pt>
                  <c:pt idx="17">
                    <c:v>Jun-24</c:v>
                  </c:pt>
                  <c:pt idx="18">
                    <c:v>Jul-24</c:v>
                  </c:pt>
                  <c:pt idx="19">
                    <c:v>Aug-24</c:v>
                  </c:pt>
                  <c:pt idx="20">
                    <c:v>Sep-24</c:v>
                  </c:pt>
                  <c:pt idx="21">
                    <c:v>Oct-24</c:v>
                  </c:pt>
                  <c:pt idx="22">
                    <c:v>Nov-24</c:v>
                  </c:pt>
                  <c:pt idx="23">
                    <c:v>Dec-24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20.1</c:v>
                </c:pt>
                <c:pt idx="1">
                  <c:v>17.61</c:v>
                </c:pt>
                <c:pt idx="2">
                  <c:v>18.96</c:v>
                </c:pt>
                <c:pt idx="3">
                  <c:v>25.55</c:v>
                </c:pt>
                <c:pt idx="4">
                  <c:v>24.97</c:v>
                </c:pt>
                <c:pt idx="5">
                  <c:v>23.77</c:v>
                </c:pt>
                <c:pt idx="6">
                  <c:v>22.03</c:v>
                </c:pt>
                <c:pt idx="7">
                  <c:v>24.13</c:v>
                </c:pt>
                <c:pt idx="8">
                  <c:v>22.68</c:v>
                </c:pt>
                <c:pt idx="9">
                  <c:v>21.85</c:v>
                </c:pt>
                <c:pt idx="10">
                  <c:v>20.62</c:v>
                </c:pt>
                <c:pt idx="11">
                  <c:v>19.65</c:v>
                </c:pt>
                <c:pt idx="12">
                  <c:v>21.39</c:v>
                </c:pt>
                <c:pt idx="13">
                  <c:v>18.13</c:v>
                </c:pt>
                <c:pt idx="14">
                  <c:v>22.98</c:v>
                </c:pt>
                <c:pt idx="15">
                  <c:v>22.01</c:v>
                </c:pt>
                <c:pt idx="16">
                  <c:v>19.73</c:v>
                </c:pt>
                <c:pt idx="17">
                  <c:v>20.89</c:v>
                </c:pt>
                <c:pt idx="18">
                  <c:v>19.39</c:v>
                </c:pt>
                <c:pt idx="19">
                  <c:v>25.11</c:v>
                </c:pt>
                <c:pt idx="20">
                  <c:v>21.37</c:v>
                </c:pt>
                <c:pt idx="21">
                  <c:v>21.29</c:v>
                </c:pt>
                <c:pt idx="22">
                  <c:v>22.6</c:v>
                </c:pt>
                <c:pt idx="23">
                  <c:v>22.98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CEA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6B74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49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490"/>
                    </a:solidFill>
                    <a:latin typeface="Arial"/>
                  </a:rPr>
                  <a:t>₹ Millions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CE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Electronics</c:v>
                  </c:pt>
                  <c:pt idx="1">
                    <c:v>Fashion</c:v>
                  </c:pt>
                  <c:pt idx="2">
                    <c:v>Beauty</c:v>
                  </c:pt>
                  <c:pt idx="3">
                    <c:v>Home &amp; Kitchen</c:v>
                  </c:pt>
                  <c:pt idx="4">
                    <c:v>Books</c:v>
                  </c:pt>
                  <c:pt idx="5">
                    <c:v>Sports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91.46</c:v>
                </c:pt>
                <c:pt idx="1">
                  <c:v>89.77</c:v>
                </c:pt>
                <c:pt idx="2">
                  <c:v>89.52</c:v>
                </c:pt>
                <c:pt idx="3">
                  <c:v>85.47</c:v>
                </c:pt>
                <c:pt idx="4">
                  <c:v>83.89</c:v>
                </c:pt>
                <c:pt idx="5">
                  <c:v>79.68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4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49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490"/>
                    </a:solidFill>
                    <a:latin typeface="Arial"/>
                  </a:rPr>
                  <a:t>₹ Millions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Tamil Nadu</c:v>
                  </c:pt>
                  <c:pt idx="1">
                    <c:v>Karnataka</c:v>
                  </c:pt>
                  <c:pt idx="2">
                    <c:v>West Bengal</c:v>
                  </c:pt>
                  <c:pt idx="3">
                    <c:v>Rajasthan</c:v>
                  </c:pt>
                  <c:pt idx="4">
                    <c:v>Madhya Pradesh</c:v>
                  </c:pt>
                  <c:pt idx="5">
                    <c:v>Delhi</c:v>
                  </c:pt>
                  <c:pt idx="6">
                    <c:v>Uttar Pradesh</c:v>
                  </c:pt>
                  <c:pt idx="7">
                    <c:v>Telangana</c:v>
                  </c:pt>
                  <c:pt idx="8">
                    <c:v>Maharashtra</c:v>
                  </c:pt>
                  <c:pt idx="9">
                    <c:v>Gujarat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40.21</c:v>
                </c:pt>
                <c:pt idx="1">
                  <c:v>41.43</c:v>
                </c:pt>
                <c:pt idx="2">
                  <c:v>41.55</c:v>
                </c:pt>
                <c:pt idx="3">
                  <c:v>42.84</c:v>
                </c:pt>
                <c:pt idx="4">
                  <c:v>42.93</c:v>
                </c:pt>
                <c:pt idx="5">
                  <c:v>43.78</c:v>
                </c:pt>
                <c:pt idx="6">
                  <c:v>44.39</c:v>
                </c:pt>
                <c:pt idx="7">
                  <c:v>44.52</c:v>
                </c:pt>
                <c:pt idx="8">
                  <c:v>82.45</c:v>
                </c:pt>
                <c:pt idx="9">
                  <c:v>95.69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4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4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D5A99"/>
              </a:solidFill>
              <a:effectLst/>
            </c:spPr>
          </c:dPt>
          <c:dPt>
            <c:idx val="2"/>
            <c:bubble3D val="0"/>
            <c:spPr>
              <a:solidFill>
                <a:srgbClr val="6E8FC7"/>
              </a:solidFill>
              <a:effectLst/>
            </c:spPr>
          </c:dPt>
          <c:dPt>
            <c:idx val="3"/>
            <c:bubble3D val="0"/>
            <c:spPr>
              <a:solidFill>
                <a:srgbClr val="F2A93B"/>
              </a:solidFill>
              <a:effectLst/>
            </c:spPr>
          </c:dPt>
          <c:dPt>
            <c:idx val="4"/>
            <c:bubble3D val="0"/>
            <c:spPr>
              <a:solidFill>
                <a:srgbClr val="E4572E"/>
              </a:solidFill>
              <a:effectLst/>
            </c:spPr>
          </c:dPt>
          <c:dPt>
            <c:idx val="5"/>
            <c:bubble3D val="0"/>
            <c:spPr>
              <a:solidFill>
                <a:srgbClr val="4CA37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Net Banking</c:v>
                </c:pt>
                <c:pt idx="1">
                  <c:v>Debit Card</c:v>
                </c:pt>
                <c:pt idx="2">
                  <c:v>Cash on Delivery</c:v>
                </c:pt>
                <c:pt idx="3">
                  <c:v>Unknown</c:v>
                </c:pt>
                <c:pt idx="4">
                  <c:v>Credit Card</c:v>
                </c:pt>
                <c:pt idx="5">
                  <c:v>UPI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812</c:v>
                </c:pt>
                <c:pt idx="1">
                  <c:v>803</c:v>
                </c:pt>
                <c:pt idx="2">
                  <c:v>799</c:v>
                </c:pt>
                <c:pt idx="3">
                  <c:v>793</c:v>
                </c:pt>
                <c:pt idx="4">
                  <c:v>783</c:v>
                </c:pt>
                <c:pt idx="5">
                  <c:v>769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50">
              <a:solidFill>
                <a:srgbClr val="1B234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orders (%)</c:v>
                </c:pt>
              </c:strCache>
            </c:strRef>
          </c:tx>
          <c:spPr>
            <a:solidFill>
              <a:srgbClr val="4CA3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Delivered</c:v>
                  </c:pt>
                  <c:pt idx="1">
                    <c:v>Cancelled</c:v>
                  </c:pt>
                  <c:pt idx="2">
                    <c:v>Returned</c:v>
                  </c:pt>
                  <c:pt idx="3">
                    <c:v>Delayed</c:v>
                  </c:pt>
                  <c:pt idx="4">
                    <c:v>Unknown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</c:v>
                </c:pt>
                <c:pt idx="1">
                  <c:v>15.7</c:v>
                </c:pt>
                <c:pt idx="2">
                  <c:v>15.2</c:v>
                </c:pt>
                <c:pt idx="3">
                  <c:v>14.3</c:v>
                </c:pt>
                <c:pt idx="4">
                  <c:v>13.8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4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4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Shampoo</c:v>
                  </c:pt>
                  <c:pt idx="1">
                    <c:v>Perfume</c:v>
                  </c:pt>
                  <c:pt idx="2">
                    <c:v>Mixer Grinder</c:v>
                  </c:pt>
                  <c:pt idx="3">
                    <c:v>Cookware Set</c:v>
                  </c:pt>
                  <c:pt idx="4">
                    <c:v>Novel</c:v>
                  </c:pt>
                  <c:pt idx="5">
                    <c:v>Cricket Bat</c:v>
                  </c:pt>
                  <c:pt idx="6">
                    <c:v>Textbook</c:v>
                  </c:pt>
                  <c:pt idx="7">
                    <c:v>Comic</c:v>
                  </c:pt>
                  <c:pt idx="8">
                    <c:v>Biography</c:v>
                  </c:pt>
                  <c:pt idx="9">
                    <c:v>Dumbbells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18.81</c:v>
                </c:pt>
                <c:pt idx="1">
                  <c:v>19.12</c:v>
                </c:pt>
                <c:pt idx="2">
                  <c:v>19.38</c:v>
                </c:pt>
                <c:pt idx="3">
                  <c:v>19.98</c:v>
                </c:pt>
                <c:pt idx="4">
                  <c:v>20.05</c:v>
                </c:pt>
                <c:pt idx="5">
                  <c:v>20.07</c:v>
                </c:pt>
                <c:pt idx="6">
                  <c:v>20.97</c:v>
                </c:pt>
                <c:pt idx="7">
                  <c:v>21.44</c:v>
                </c:pt>
                <c:pt idx="8">
                  <c:v>21.44</c:v>
                </c:pt>
                <c:pt idx="9">
                  <c:v>22.2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B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4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4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orders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★</c:v>
                  </c:pt>
                  <c:pt idx="1">
                    <c:v>2 ★</c:v>
                  </c:pt>
                  <c:pt idx="2">
                    <c:v>3 ★</c:v>
                  </c:pt>
                  <c:pt idx="3">
                    <c:v>4 ★</c:v>
                  </c:pt>
                  <c:pt idx="4">
                    <c:v>5 ★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487</c:v>
                </c:pt>
                <c:pt idx="1">
                  <c:v>1156</c:v>
                </c:pt>
                <c:pt idx="2">
                  <c:v>936</c:v>
                </c:pt>
                <c:pt idx="3">
                  <c:v>1240</c:v>
                </c:pt>
                <c:pt idx="4">
                  <c:v>517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Dashboard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Review — FY 2023–24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0" cy="54864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492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order-level transaction data · 4,759 orders · 10 states · 6 categories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performance across all orders, Jan 2023 – Dec 2024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647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25856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₹51.98 Cr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277063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600200"/>
            <a:ext cx="208483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99232" y="17647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2971800" y="225856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4,759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971800" y="277063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1600200"/>
            <a:ext cx="208483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85232" y="17647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225856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₹1,09,222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257800" y="277063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1600200"/>
            <a:ext cx="208483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71232" y="17647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3DA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225856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3.03 / 5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43800" y="277063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Rating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92640" y="1600200"/>
            <a:ext cx="208483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4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857232" y="17647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3DA"/>
          </a:solidFill>
          <a:ln/>
        </p:spPr>
      </p:sp>
      <p:sp>
        <p:nvSpPr>
          <p:cNvPr id="22" name="Text 20"/>
          <p:cNvSpPr/>
          <p:nvPr/>
        </p:nvSpPr>
        <p:spPr>
          <a:xfrm>
            <a:off x="9829800" y="225856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15.2%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829800" y="277063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429000"/>
            <a:ext cx="110642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4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3657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tell us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8680" y="406908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broad-based: all six categories (Electronics, Fashion, Beauty, Home &amp; Kitchen, Books, Sports) contribute within a tight ₹80–91M band — no single category dominates.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leads all states with ₹95.7M in revenue, well ahead of Maharashtra (₹82.5M) — together over 34% of national revenue.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41% of orders are marked “Delivered”; Returned, Delayed and Cancelled combined account for the remaining ~45%, which is the single largest opportunity for improvement.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rating sits at 3.03/5 — a signal that customer experience needs attention alongside revenue growth.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Trend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revenue, Jan 2023 – Dec 2024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786384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41080" y="132588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F6F8FC"/>
          </a:solidFill>
          <a:ln/>
        </p:spPr>
      </p:sp>
      <p:sp>
        <p:nvSpPr>
          <p:cNvPr id="6" name="Shape 3"/>
          <p:cNvSpPr/>
          <p:nvPr/>
        </p:nvSpPr>
        <p:spPr>
          <a:xfrm>
            <a:off x="8823960" y="14904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9070848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peaks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823960" y="17830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and August each year show clear demand spikes — useful windows for inventory planning and promotions.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41080" y="301752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F6F8FC"/>
          </a:solidFill>
          <a:ln/>
        </p:spPr>
      </p:sp>
      <p:sp>
        <p:nvSpPr>
          <p:cNvPr id="10" name="Shape 7"/>
          <p:cNvSpPr/>
          <p:nvPr/>
        </p:nvSpPr>
        <p:spPr>
          <a:xfrm>
            <a:off x="8823960" y="3182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4CA37F"/>
          </a:solidFill>
          <a:ln/>
        </p:spPr>
      </p:sp>
      <p:sp>
        <p:nvSpPr>
          <p:cNvPr id="11" name="Text 8"/>
          <p:cNvSpPr/>
          <p:nvPr/>
        </p:nvSpPr>
        <p:spPr>
          <a:xfrm>
            <a:off x="9070848" y="3127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base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823960" y="347472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in the softest months, revenue rarely dips below ₹17.5M, indicating a resilient demand floor.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641080" y="470916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F6F8FC"/>
          </a:solidFill>
          <a:ln/>
        </p:spPr>
      </p:sp>
      <p:sp>
        <p:nvSpPr>
          <p:cNvPr id="14" name="Shape 11"/>
          <p:cNvSpPr/>
          <p:nvPr/>
        </p:nvSpPr>
        <p:spPr>
          <a:xfrm>
            <a:off x="8823960" y="48737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15" name="Text 12"/>
          <p:cNvSpPr/>
          <p:nvPr/>
        </p:nvSpPr>
        <p:spPr>
          <a:xfrm>
            <a:off x="9070848" y="4818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YoY growth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823960" y="51663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revenue tracks close to 2023 levels rather than growing — a signal worth investigating.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category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371600"/>
            <a:ext cx="3886200" cy="4846320"/>
          </a:xfrm>
          <a:prstGeom prst="roundRect">
            <a:avLst>
              <a:gd name="adj" fmla="val 2353"/>
            </a:avLst>
          </a:prstGeom>
          <a:solidFill>
            <a:srgbClr val="F6F8FC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mix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0" y="2057400"/>
            <a:ext cx="33832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leads narrowly at ₹91.5M, but the gap to the lowest category (Sports, ₹79.7M) is only ~13% — a well-balanced portfolio.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category is under-performing badly enough to warrant delisting; the opportunity is lifting the tail (Books, Sports) rather than fixing a laggard.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 is similar across categories (17.6%–18.2%), so category mix — not discounting strategy — explains the revenue spread.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state, top 10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722376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32588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17830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Gujarat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0" y="23317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₹95.69M — 18.4% of total revenue, nearly ₹13M ahead of #2 Maharashtra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01000" y="388620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F6F8FC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4069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0" y="4343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Surat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229600" y="48920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₹50.97M — the single highest-revenue city, ahead of Ahmedabad and Hyderabad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&amp; Delivery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customers pay, and how orders are fulfilled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split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45920"/>
          <a:ext cx="5394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280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 breakdown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17920" y="1645920"/>
          <a:ext cx="5394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by revenue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110642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Satisfaction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customer ratings (1–5 stars)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371600"/>
            <a:ext cx="3886200" cy="4846320"/>
          </a:xfrm>
          <a:prstGeom prst="roundRect">
            <a:avLst>
              <a:gd name="adj" fmla="val 2353"/>
            </a:avLst>
          </a:prstGeom>
          <a:solidFill>
            <a:srgbClr val="F6F8FC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600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46720" y="1874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3.03 / 5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046720" y="2606040"/>
            <a:ext cx="33832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2–star and 4–star ratings are the most common, together over half of all reviews — sentiment is mixed rather than uniformly poor.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11% of orders receive a 5–star rating, meaning very few customers are true promoters today.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does not vary much by delivery outcome (~3.0–3.1 across Delivered, Returned, Delayed) — dissatisfaction looks broader than fulfillment alone.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4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527048"/>
            <a:ext cx="640080" cy="6400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27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139903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fulfillment first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7830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of orders end in Returned, Delayed or Cancelled. Reducing this is the single biggest lever on both revenue and rating.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898648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986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277063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satisfaction gap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31546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3.03 average rating and only 11% five-star orders suggest experience issues beyond delivery — review product quality and support quality.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4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2702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702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91640" y="414223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Gujarat &amp; Maharashtra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45262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states already generate over 34% of revenue — replicate what's working there (logistics, marketing) in similar Tier-1 states.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5641848"/>
            <a:ext cx="640080" cy="640080"/>
          </a:xfrm>
          <a:prstGeom prst="ellipse">
            <a:avLst/>
          </a:prstGeom>
          <a:solidFill>
            <a:srgbClr val="4CA37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6418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91640" y="551383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around seasonal peaks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91640" y="58978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and August consistently outperform — align inventory, staffing and promotions with this recurring pattern.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206240" cy="420624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Sales Performance Dashboard — FY 2023–24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internal business review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2026-07-25T14:45:02Z</dcterms:created>
  <dcterms:modified xsi:type="dcterms:W3CDTF">2026-07-25T14:45:02Z</dcterms:modified>
</cp:coreProperties>
</file>